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74" r:id="rId13"/>
    <p:sldId id="275" r:id="rId14"/>
    <p:sldId id="276" r:id="rId15"/>
    <p:sldId id="277" r:id="rId16"/>
    <p:sldId id="268" r:id="rId17"/>
    <p:sldId id="273" r:id="rId18"/>
    <p:sldId id="269" r:id="rId19"/>
    <p:sldId id="270" r:id="rId20"/>
    <p:sldId id="271" r:id="rId21"/>
    <p:sldId id="272" r:id="rId22"/>
    <p:sldId id="279" r:id="rId23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99" d="100"/>
          <a:sy n="99" d="100"/>
        </p:scale>
        <p:origin x="47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DF1028B7-C475-B942-BB87-B079E02CE2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4EDC8C-7EA9-6744-A4AF-FA428FB4F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11E7F-CBB1-B54B-88FF-1DD5848C5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9E447-7CCF-2E4C-B7B9-CBFAA3375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1218-32FA-D44B-9434-7BA705E19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BDFBD-F2DF-4C42-9B96-F460581E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2578900A-EE75-EC4B-93EF-FBF256D8A1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83967" t="24189" r="6067" b="24064"/>
          <a:stretch/>
        </p:blipFill>
        <p:spPr>
          <a:xfrm>
            <a:off x="10982195" y="0"/>
            <a:ext cx="1177446" cy="13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1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E9BB3A8C-6B66-0F4C-917B-DE77ED193F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6AFC78-2AF9-224D-9A80-BFC329A10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950026"/>
            <a:ext cx="10961914" cy="7406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59A79-4C18-864D-AE36-E0E13173A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825625"/>
            <a:ext cx="10961914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66909-CF21-1441-8A43-11A73AA3E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EF567-C04D-9C47-99E9-85EE3FBA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BB96D-4813-A649-9EC8-15E2456D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73427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5CB5D82F-07DC-8A4F-BAF0-92406E878C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8502F9-0CD3-5545-BECD-7099F1960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FD5D6-D817-F542-A588-5CE3B6348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9D331-6F5F-FE4F-BACE-36335DF6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058D6-D68B-5343-958B-81099AD3B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41510-5997-3445-A315-F54A64A2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213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3D958E1B-8148-084E-9A4E-6C5732A18F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DEE668-B0C6-6449-BD9B-21291EC0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1008020"/>
            <a:ext cx="10961914" cy="682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7F78E-3A83-1E41-BEF0-AB85531DAA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66F0EF-0B24-1646-9858-6EB76705B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859EE-58B6-6D45-B5ED-FD081ACD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ED664-762D-6146-A15C-64AF35A9C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277735-7EAD-8849-BC11-1A51F3A0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8034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C7BC9146-4E4F-9E40-A9E9-167FCBCFA8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211D31-E6AD-9941-AD2A-E6EBA8845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384" y="1008020"/>
            <a:ext cx="11011004" cy="682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1B633-D186-4A46-889F-936665645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11160-787B-4C45-8EA3-D5E9F5276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3C6E0-42E7-D34A-950E-9B5ABA7A1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37BD9-2970-F74B-8C68-BD726BAA8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4512D-4858-5249-BCD2-4210F4C1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3C4F9-A415-DA4D-A53C-793BB6270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C2F445-6980-834F-B0FE-BB55FFD49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45373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20B8AC15-AC2C-4E45-A1FB-5155B201A5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3FC57E-415E-4241-BDE9-26B1D81D5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8020"/>
            <a:ext cx="10515600" cy="68266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12FD02-9CD7-3841-9DD2-8D3DF986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D34C8-64A2-8047-8C1E-CB7AE7062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70CB7-19B1-C844-8636-B305CD53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03008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AAFDFA7D-0949-CA4A-8E36-23085A1377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BD9A58-7CF6-7248-8411-8911F3A2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DC9410-7A47-924B-BF13-DCFD771C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A1259-5929-044D-A89E-F42C5C0E7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131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3357B3C3-F2C4-3D4C-A718-C55A0E579B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FF3B40-F123-C94C-A012-28CC6EFD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9B67-AFD8-6240-B98B-930CEA21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AF10C-D19D-8146-B150-5BFF5A511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DAC58-D248-1D4D-8918-03D25081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40BD3-309C-0F40-A28D-466648D7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653F0-3A56-8342-ABD3-96B45C76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5039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9133BD43-EC33-ED49-B4F0-126136EAB1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EC2B8C-0930-F843-B4D0-5C703877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45866-30BB-EA40-B000-B551421779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AC284-99DE-DB43-8762-60BF873366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199FE-9F50-CA41-85DF-E2F12E32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36851-7549-324F-8F82-1C1E6CC0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1C492-D0E6-C14C-BCBD-1A3D9D06E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939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4D3097C3-2C20-6840-9001-A5EF7822FF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0D10E3-C8D0-EC4A-BE87-BFB70C63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6275"/>
            <a:ext cx="10515600" cy="764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19FAE-BC5C-B140-9361-B70FBB7FB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54B07-7987-384A-B6BC-F86B989B2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0DD5C-5397-2A40-954E-291C5AF8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A847F-4920-064B-A87B-3E4CE6A4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32083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A87775D8-2853-A645-A287-5B01F70B88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04A83-3320-1846-ADE1-55E81DF04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2525D-6D44-2F49-BFAA-82866B804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F98B7-5D63-7D42-896E-3A5C4479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8ACCB-D86A-8340-83DF-E9D64A929EB3}" type="datetimeFigureOut">
              <a:rPr lang="x-none" smtClean="0"/>
              <a:pPr/>
              <a:t>9/19/2026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A722D-E4F6-C54B-B383-1DA0CFF2B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B92FF-D5B5-0847-803A-6E512488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EE6E7-1C6C-5642-908E-0E7F366911F0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330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ign, stop, reading, outdoor&#10;&#10;Description automatically generated">
            <a:extLst>
              <a:ext uri="{FF2B5EF4-FFF2-40B4-BE49-F238E27FC236}">
                <a16:creationId xmlns:a16="http://schemas.microsoft.com/office/drawing/2014/main" id="{13984A72-8A47-B847-AE6B-87719D400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59903" b="1690"/>
          <a:stretch/>
        </p:blipFill>
        <p:spPr>
          <a:xfrm>
            <a:off x="-1" y="6175332"/>
            <a:ext cx="12204903" cy="68266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E0ECE-6ADC-684B-B553-178FFB07F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56" y="950026"/>
            <a:ext cx="11140044" cy="7406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83D33-787A-F84E-AF9E-78809EA3C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756" y="1825625"/>
            <a:ext cx="111400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B7BE0-4202-E14F-9F88-C5E102DAC4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13756" y="6356350"/>
            <a:ext cx="3367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3D8ACCB-D86A-8340-83DF-E9D64A929EB3}" type="datetimeFigureOut">
              <a:rPr lang="x-none" smtClean="0"/>
              <a:pPr/>
              <a:t>9/19/2026</a:t>
            </a:fld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94D20-A839-AE45-928D-CEB599D07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F3331-795A-2E41-80FC-465428316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D7EE6E7-1C6C-5642-908E-0E7F366911F0}" type="slidenum">
              <a:rPr lang="x-none" smtClean="0"/>
              <a:pPr/>
              <a:t>‹#›</a:t>
            </a:fld>
            <a:endParaRPr lang="x-none" dirty="0"/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B1B30192-0367-D943-8F72-A362FE5B95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5304" t="16072" r="50768" b="17480"/>
          <a:stretch/>
        </p:blipFill>
        <p:spPr>
          <a:xfrm>
            <a:off x="0" y="0"/>
            <a:ext cx="2648197" cy="895415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29D41A54-6D58-AF48-B7EC-C7449211F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83967" t="24189" r="6067" b="24064"/>
          <a:stretch/>
        </p:blipFill>
        <p:spPr>
          <a:xfrm>
            <a:off x="10982195" y="0"/>
            <a:ext cx="1177446" cy="136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3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0D66B-F750-204D-B5DE-C8D053980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/>
              <a:t>Аутоматска транскрипција говора за српски језик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97DC4-6EF6-7B4A-9DA9-00409F3E5E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Cyrl-RS" dirty="0"/>
              <a:t>Стефан Јевтић ми241043</a:t>
            </a:r>
          </a:p>
          <a:p>
            <a:r>
              <a:rPr lang="sr-Cyrl-RS" dirty="0"/>
              <a:t>ментор проф. др Младен Николић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090065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260F2-EC1D-3C4C-A3DE-0BF53F34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Cyrl-RS" dirty="0"/>
              <a:t>Увод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6CB75-E9C9-7E4F-A634-EBE43E711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Представља област вештачке интелигенције која се бави интеракцијом између рачунара и природног језика</a:t>
            </a:r>
          </a:p>
          <a:p>
            <a:r>
              <a:rPr lang="sr-Cyrl-RS" dirty="0"/>
              <a:t>Подразумева претварање говора у текст</a:t>
            </a:r>
          </a:p>
          <a:p>
            <a:r>
              <a:rPr lang="sr-Cyrl-RS" dirty="0"/>
              <a:t>Кључна технологија у оквиру обраде природних језика</a:t>
            </a:r>
          </a:p>
          <a:p>
            <a:r>
              <a:rPr lang="sr-Cyrl-RS" dirty="0"/>
              <a:t>Широк спектар примена</a:t>
            </a:r>
          </a:p>
          <a:p>
            <a:endParaRPr lang="sr-Cyrl-RS" dirty="0"/>
          </a:p>
          <a:p>
            <a:endParaRPr lang="sr-Cyrl-RS" dirty="0"/>
          </a:p>
        </p:txBody>
      </p:sp>
    </p:spTree>
    <p:extLst>
      <p:ext uri="{BB962C8B-B14F-4D97-AF65-F5344CB8AC3E}">
        <p14:creationId xmlns:p14="http://schemas.microsoft.com/office/powerpoint/2010/main" val="1729704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A2BD-4755-A729-3BFC-93D39993F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ED6A-3F5A-FD66-B530-656E18F50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Cyrl-RS" dirty="0"/>
              <a:t>Примене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52EB9-33F0-A619-E134-8977C4E91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Претраживање садржаја путем говора (енг. </a:t>
            </a:r>
            <a:r>
              <a:rPr lang="en-US" dirty="0"/>
              <a:t>voice input)</a:t>
            </a:r>
            <a:endParaRPr lang="sr-Cyrl-RS" dirty="0"/>
          </a:p>
          <a:p>
            <a:r>
              <a:rPr lang="sr-Cyrl-RS" dirty="0"/>
              <a:t>Генерисање титлова</a:t>
            </a:r>
          </a:p>
          <a:p>
            <a:r>
              <a:rPr lang="sr-Cyrl-RS" dirty="0"/>
              <a:t>Анализа говора у правним и медицинским условима</a:t>
            </a:r>
          </a:p>
          <a:p>
            <a:r>
              <a:rPr lang="sr-Cyrl-RS" dirty="0"/>
              <a:t>Унапређење корисничког искуства у разним апликацијама (нпр. диктирање порука уместо куцања</a:t>
            </a:r>
            <a:r>
              <a:rPr lang="en-US" dirty="0"/>
              <a:t>, Amazon Alexa</a:t>
            </a:r>
            <a:r>
              <a:rPr lang="sr-Latn-RS" dirty="0"/>
              <a:t>, ...</a:t>
            </a:r>
            <a:r>
              <a:rPr lang="sr-Cyrl-RS" dirty="0"/>
              <a:t>)</a:t>
            </a:r>
          </a:p>
          <a:p>
            <a:endParaRPr lang="sr-Cyrl-RS" dirty="0"/>
          </a:p>
          <a:p>
            <a:endParaRPr lang="sr-Cyrl-RS" dirty="0"/>
          </a:p>
        </p:txBody>
      </p:sp>
    </p:spTree>
    <p:extLst>
      <p:ext uri="{BB962C8B-B14F-4D97-AF65-F5344CB8AC3E}">
        <p14:creationId xmlns:p14="http://schemas.microsoft.com/office/powerpoint/2010/main" val="369057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D5C1-E3A3-0EDD-8E04-7D1470A6E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CB0CD-55E2-F838-F02E-755D48173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Cyrl-RS" dirty="0"/>
              <a:t>Предности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74B5F-BD57-B342-D7A2-DD846B785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Брза и ефикасна обрада великих количина аудио-садржаја</a:t>
            </a:r>
            <a:endParaRPr lang="sr-Cyrl-RS" dirty="0"/>
          </a:p>
          <a:p>
            <a:r>
              <a:rPr lang="ru-RU" dirty="0"/>
              <a:t>Елиминисање потребе за заморном ручном транскрипцијом</a:t>
            </a:r>
            <a:endParaRPr lang="sr-Cyrl-RS" dirty="0"/>
          </a:p>
          <a:p>
            <a:r>
              <a:rPr lang="ru-RU" dirty="0"/>
              <a:t>Повећање приступачности садржаја особама са оштећењем слуха</a:t>
            </a:r>
          </a:p>
          <a:p>
            <a:endParaRPr lang="sr-Cyrl-RS" dirty="0"/>
          </a:p>
        </p:txBody>
      </p:sp>
    </p:spTree>
    <p:extLst>
      <p:ext uri="{BB962C8B-B14F-4D97-AF65-F5344CB8AC3E}">
        <p14:creationId xmlns:p14="http://schemas.microsoft.com/office/powerpoint/2010/main" val="214781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C81A0-A729-A641-91E1-B2E5F89A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D2BCA-C5DD-1FA5-2F75-C28AB51B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Cyrl-RS" dirty="0"/>
              <a:t>Изазови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36049-EF55-292A-4CBC-6B595521D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Отежано и непрецизно препознавање говора у условима позадинске буке</a:t>
            </a:r>
            <a:endParaRPr lang="sr-Cyrl-RS" dirty="0"/>
          </a:p>
          <a:p>
            <a:r>
              <a:rPr lang="ru-RU" dirty="0"/>
              <a:t>Проблеми при обради нејасног изговора и специфичних акцената</a:t>
            </a:r>
            <a:endParaRPr lang="sr-Cyrl-RS" dirty="0"/>
          </a:p>
          <a:p>
            <a:r>
              <a:rPr lang="ru-RU" dirty="0"/>
              <a:t>Отежано препознавање стручних и специфичних термина</a:t>
            </a:r>
            <a:endParaRPr lang="sr-Cyrl-RS" dirty="0"/>
          </a:p>
          <a:p>
            <a:endParaRPr lang="sr-Cyrl-RS" dirty="0"/>
          </a:p>
        </p:txBody>
      </p:sp>
    </p:spTree>
    <p:extLst>
      <p:ext uri="{BB962C8B-B14F-4D97-AF65-F5344CB8AC3E}">
        <p14:creationId xmlns:p14="http://schemas.microsoft.com/office/powerpoint/2010/main" val="2871054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DF99-E063-4B02-6D26-12E55D47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OpenAI Whisper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52FE6-5D1B-4826-F578-1FE4E6E7A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ru-RU" dirty="0"/>
              <a:t>ористи дубоке неуронске мреже и encoder–decoder архитектуру засновану на Transformer-има</a:t>
            </a:r>
            <a:endParaRPr lang="en-US" dirty="0"/>
          </a:p>
          <a:p>
            <a:r>
              <a:rPr lang="ru-RU" dirty="0"/>
              <a:t>Encoder користи конволутивне слојеве, GELU активациону функцију, позиционо кодирање и механизме пажње</a:t>
            </a:r>
            <a:endParaRPr lang="en-US" dirty="0"/>
          </a:p>
          <a:p>
            <a:r>
              <a:rPr lang="ru-RU" dirty="0"/>
              <a:t>Decoder користи токенске репрезентације и претходно научене позиционе информације за генерисање текста</a:t>
            </a:r>
            <a:endParaRPr lang="en-US" dirty="0"/>
          </a:p>
          <a:p>
            <a:r>
              <a:rPr lang="ru-RU" dirty="0"/>
              <a:t>Велика и разноврсна база за обуку модела доприноси робусности </a:t>
            </a:r>
            <a:br>
              <a:rPr lang="ru-RU" dirty="0"/>
            </a:br>
            <a:r>
              <a:rPr lang="ru-RU" dirty="0"/>
              <a:t>на различитим акцентима и позадинској буци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48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A4DC-E31C-8395-1481-D74BC1E7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OpenAI Whisper	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B4948-1DE5-EB84-71F9-F70368FDD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2062" y="1825625"/>
            <a:ext cx="6381482" cy="4351338"/>
          </a:xfrm>
        </p:spPr>
      </p:pic>
    </p:spTree>
    <p:extLst>
      <p:ext uri="{BB962C8B-B14F-4D97-AF65-F5344CB8AC3E}">
        <p14:creationId xmlns:p14="http://schemas.microsoft.com/office/powerpoint/2010/main" val="250441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95A4-EDAE-6906-4A22-E51A2501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Коришћени скупови података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98860-D258-80BA-A73A-1A47FF806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classla/ParlaSpeech-SR</a:t>
            </a:r>
            <a:endParaRPr lang="sr-Cyrl-RS" dirty="0"/>
          </a:p>
          <a:p>
            <a:r>
              <a:rPr lang="en-US" dirty="0"/>
              <a:t>google/fleurs</a:t>
            </a:r>
            <a:endParaRPr lang="sr-Cyrl-RS" dirty="0"/>
          </a:p>
          <a:p>
            <a:r>
              <a:rPr lang="en-US" dirty="0"/>
              <a:t>mozilla-foundation/common_voice_17_0</a:t>
            </a:r>
            <a:endParaRPr lang="sr-Cyrl-RS" dirty="0"/>
          </a:p>
          <a:p>
            <a:r>
              <a:rPr lang="sr-Cyrl-RS" dirty="0"/>
              <a:t>Коначни </a:t>
            </a:r>
            <a:r>
              <a:rPr lang="en-US" dirty="0"/>
              <a:t>train/validation/test </a:t>
            </a:r>
            <a:r>
              <a:rPr lang="sr-Cyrl-RS" dirty="0"/>
              <a:t>скупови обједињују одговарајуће делове сва три корпуса</a:t>
            </a:r>
          </a:p>
          <a:p>
            <a:endParaRPr lang="sr-Cyrl-R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926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0C388-0F45-62AB-4B20-68AD67F6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Технике тренинга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402E2-66E4-0DFF-D5A1-BA95BB05B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PEFT </a:t>
            </a:r>
            <a:r>
              <a:rPr lang="sr-Cyrl-RS" dirty="0"/>
              <a:t>и </a:t>
            </a:r>
            <a:r>
              <a:rPr lang="en-US" dirty="0"/>
              <a:t>LORA</a:t>
            </a:r>
            <a:endParaRPr lang="sr-Cyrl-RS" dirty="0"/>
          </a:p>
          <a:p>
            <a:r>
              <a:rPr lang="sr-Cyrl-RS" dirty="0"/>
              <a:t>А</a:t>
            </a:r>
            <a:r>
              <a:rPr lang="en-US" dirty="0"/>
              <a:t>damW </a:t>
            </a:r>
            <a:r>
              <a:rPr lang="sr-Cyrl-RS" dirty="0"/>
              <a:t>оптимизатор</a:t>
            </a:r>
          </a:p>
          <a:p>
            <a:r>
              <a:rPr lang="en-US" dirty="0"/>
              <a:t>Weight decay </a:t>
            </a:r>
            <a:r>
              <a:rPr lang="sr-Cyrl-RS" dirty="0"/>
              <a:t>(</a:t>
            </a:r>
            <a:r>
              <a:rPr lang="en-US" dirty="0"/>
              <a:t>L2) </a:t>
            </a:r>
            <a:r>
              <a:rPr lang="sr-Cyrl-RS" dirty="0"/>
              <a:t>регуларизација</a:t>
            </a:r>
          </a:p>
          <a:p>
            <a:r>
              <a:rPr lang="en-US" dirty="0"/>
              <a:t>Linear L</a:t>
            </a:r>
            <a:r>
              <a:rPr lang="sr-Latn-RS" dirty="0"/>
              <a:t>earning Rate </a:t>
            </a:r>
            <a:r>
              <a:rPr lang="en-US" dirty="0"/>
              <a:t>scheduler</a:t>
            </a:r>
          </a:p>
          <a:p>
            <a:r>
              <a:rPr lang="en-US" dirty="0"/>
              <a:t>Early stopping</a:t>
            </a:r>
          </a:p>
        </p:txBody>
      </p:sp>
    </p:spTree>
    <p:extLst>
      <p:ext uri="{BB962C8B-B14F-4D97-AF65-F5344CB8AC3E}">
        <p14:creationId xmlns:p14="http://schemas.microsoft.com/office/powerpoint/2010/main" val="3816911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7357-9691-E288-2083-5AD8E833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Технике тренинга и евалуације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2263-23F5-AF87-241A-1A5DFB402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Нормализација речи</a:t>
            </a:r>
          </a:p>
          <a:p>
            <a:r>
              <a:rPr lang="sr-Cyrl-RS" dirty="0"/>
              <a:t>Одређивање фреквенције речи</a:t>
            </a:r>
          </a:p>
          <a:p>
            <a:r>
              <a:rPr lang="sr-Cyrl-RS" dirty="0"/>
              <a:t>Провера правописа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58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C007-B82B-A302-6817-FC6CB612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Хиперпараметри тренинга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C6409-996E-5C5F-BEDF-723D1C937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learning_rate</a:t>
            </a:r>
          </a:p>
          <a:p>
            <a:r>
              <a:rPr lang="en-US" dirty="0"/>
              <a:t>weight_decay</a:t>
            </a:r>
            <a:endParaRPr lang="sr-Cyrl-RS" dirty="0"/>
          </a:p>
          <a:p>
            <a:r>
              <a:rPr lang="en-US" dirty="0"/>
              <a:t>dropout</a:t>
            </a:r>
          </a:p>
          <a:p>
            <a:r>
              <a:rPr lang="en-US" dirty="0"/>
              <a:t>batch_size</a:t>
            </a:r>
          </a:p>
          <a:p>
            <a:r>
              <a:rPr lang="en-US" dirty="0"/>
              <a:t>gradient_accumulation_steps</a:t>
            </a:r>
          </a:p>
          <a:p>
            <a:r>
              <a:rPr lang="en-US" dirty="0"/>
              <a:t>max_steps</a:t>
            </a:r>
          </a:p>
          <a:p>
            <a:r>
              <a:rPr lang="en-US" dirty="0"/>
              <a:t>eval_steps</a:t>
            </a:r>
          </a:p>
          <a:p>
            <a:r>
              <a:rPr lang="en-US" dirty="0"/>
              <a:t>warmup_steps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898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7EBF9-BA40-1319-3F78-33BA72DB5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950025"/>
            <a:ext cx="10961914" cy="875599"/>
          </a:xfrm>
        </p:spPr>
        <p:txBody>
          <a:bodyPr>
            <a:normAutofit fontScale="90000"/>
          </a:bodyPr>
          <a:lstStyle/>
          <a:p>
            <a:r>
              <a:rPr lang="sr-Cyrl-RS" dirty="0"/>
              <a:t>Варирање вредности хиперпараметара</a:t>
            </a:r>
            <a:r>
              <a:rPr lang="en-US" dirty="0"/>
              <a:t> </a:t>
            </a:r>
            <a:r>
              <a:rPr lang="sr-Cyrl-RS" dirty="0"/>
              <a:t>код модела </a:t>
            </a:r>
            <a:r>
              <a:rPr lang="en-US" dirty="0"/>
              <a:t>v2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3D290-96D7-17BE-3D57-FD21BD167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2060619"/>
            <a:ext cx="10961914" cy="41163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weight_decay: {0.001, 0.01, 0.1, 0.5}</a:t>
            </a:r>
            <a:endParaRPr lang="sr-Cyrl-RS" dirty="0"/>
          </a:p>
          <a:p>
            <a:r>
              <a:rPr lang="en-US" dirty="0"/>
              <a:t>learning_rate: {0.0005, 0.0007, 0.0009, 0.002, 0.005}</a:t>
            </a:r>
          </a:p>
          <a:p>
            <a:r>
              <a:rPr lang="sr-Cyrl-RS" dirty="0"/>
              <a:t>Оптимални резултати се постижу за </a:t>
            </a:r>
            <a:br>
              <a:rPr lang="sr-Cyrl-RS" dirty="0"/>
            </a:br>
            <a:r>
              <a:rPr lang="en-US" dirty="0"/>
              <a:t>weight_decay=0.001</a:t>
            </a:r>
            <a:r>
              <a:rPr lang="sr-Cyrl-RS" dirty="0"/>
              <a:t> и </a:t>
            </a:r>
            <a:r>
              <a:rPr lang="en-US" dirty="0"/>
              <a:t>learning_rate=</a:t>
            </a:r>
            <a:r>
              <a:rPr lang="sr-Cyrl-RS" dirty="0"/>
              <a:t>0.0009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032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3104-CEED-9F56-056F-E0E0D9134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950025"/>
            <a:ext cx="10961914" cy="875599"/>
          </a:xfrm>
        </p:spPr>
        <p:txBody>
          <a:bodyPr>
            <a:normAutofit fontScale="90000"/>
          </a:bodyPr>
          <a:lstStyle/>
          <a:p>
            <a:r>
              <a:rPr lang="sr-Cyrl-RS" dirty="0"/>
              <a:t>Варирање вредности хиперпараметара</a:t>
            </a:r>
            <a:r>
              <a:rPr lang="en-US" dirty="0"/>
              <a:t> </a:t>
            </a:r>
            <a:r>
              <a:rPr lang="sr-Cyrl-RS" dirty="0"/>
              <a:t>код модела </a:t>
            </a:r>
            <a:r>
              <a:rPr lang="en-US" dirty="0"/>
              <a:t>v3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DBF2A-4744-F12A-767B-A2F833069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2073499"/>
            <a:ext cx="10961914" cy="410346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weight_decay: {0.001, 0.005, 0.01, 0.05}</a:t>
            </a:r>
            <a:endParaRPr lang="sr-Cyrl-RS" dirty="0"/>
          </a:p>
          <a:p>
            <a:r>
              <a:rPr lang="en-US" dirty="0"/>
              <a:t>learning_rate: {0.0006, 0.0009, 0.002, 0.005}</a:t>
            </a:r>
            <a:endParaRPr lang="sr-Cyrl-RS" dirty="0"/>
          </a:p>
          <a:p>
            <a:r>
              <a:rPr lang="sr-Cyrl-RS" dirty="0"/>
              <a:t>Оптимални резултати се постижу за </a:t>
            </a:r>
            <a:br>
              <a:rPr lang="sr-Cyrl-RS" dirty="0"/>
            </a:br>
            <a:r>
              <a:rPr lang="en-US" dirty="0"/>
              <a:t>weight_decay=0.00</a:t>
            </a:r>
            <a:r>
              <a:rPr lang="sr-Cyrl-RS" dirty="0"/>
              <a:t>5 и </a:t>
            </a:r>
            <a:r>
              <a:rPr lang="en-US" dirty="0"/>
              <a:t>learning_rate=</a:t>
            </a:r>
            <a:r>
              <a:rPr lang="sr-Cyrl-RS" dirty="0"/>
              <a:t>0.002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59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92B8-7DA1-1D7D-42EC-C7040064A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Евалуација модела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58EF4-D42F-86F9-D1AD-30FACB86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Извршена је кроз метрике </a:t>
            </a:r>
            <a:r>
              <a:rPr lang="en-US" dirty="0"/>
              <a:t>WER</a:t>
            </a:r>
            <a:r>
              <a:rPr lang="sr-Cyrl-RS" dirty="0"/>
              <a:t> и </a:t>
            </a:r>
            <a:r>
              <a:rPr lang="en-US" dirty="0"/>
              <a:t>CER</a:t>
            </a:r>
          </a:p>
          <a:p>
            <a:r>
              <a:rPr lang="en-US" dirty="0"/>
              <a:t>WER = (S + D + I) / N</a:t>
            </a:r>
            <a:r>
              <a:rPr lang="en-US" sz="2400" dirty="0"/>
              <a:t>words</a:t>
            </a:r>
          </a:p>
          <a:p>
            <a:r>
              <a:rPr lang="en-US" dirty="0"/>
              <a:t>CER = (S + D + I) / N</a:t>
            </a:r>
            <a:r>
              <a:rPr lang="en-US" sz="2400" dirty="0"/>
              <a:t>chars</a:t>
            </a:r>
            <a:endParaRPr lang="en-US" dirty="0"/>
          </a:p>
          <a:p>
            <a:r>
              <a:rPr lang="sr-Cyrl-RS" dirty="0"/>
              <a:t>Предности метрика су једноставност израчунавања и</a:t>
            </a:r>
            <a:r>
              <a:rPr lang="en-US" dirty="0"/>
              <a:t> </a:t>
            </a:r>
            <a:r>
              <a:rPr lang="sr-Cyrl-RS" dirty="0"/>
              <a:t>директно поређење резултата</a:t>
            </a:r>
          </a:p>
          <a:p>
            <a:r>
              <a:rPr lang="sr-Cyrl-RS" dirty="0"/>
              <a:t>Недостатак представља изостанак семантичке и контекстуалне евалуације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732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85DAC-D45A-68BC-D358-14B8E740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950025"/>
            <a:ext cx="10961914" cy="863125"/>
          </a:xfrm>
        </p:spPr>
        <p:txBody>
          <a:bodyPr>
            <a:normAutofit fontScale="90000"/>
          </a:bodyPr>
          <a:lstStyle/>
          <a:p>
            <a:r>
              <a:rPr lang="sr-Cyrl-RS" dirty="0"/>
              <a:t>Утицај промене </a:t>
            </a:r>
            <a:r>
              <a:rPr lang="en-US" dirty="0"/>
              <a:t>weight_decay </a:t>
            </a:r>
            <a:r>
              <a:rPr lang="sr-Cyrl-RS" dirty="0"/>
              <a:t>на функцију грешке</a:t>
            </a:r>
            <a:r>
              <a:rPr lang="en-US" dirty="0"/>
              <a:t> </a:t>
            </a:r>
            <a:r>
              <a:rPr lang="sr-Cyrl-RS" dirty="0"/>
              <a:t>код модела </a:t>
            </a:r>
            <a:r>
              <a:rPr lang="en-US" dirty="0"/>
              <a:t>v2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80102E-4D5A-5616-3271-8F2430D00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0822" y="2041301"/>
            <a:ext cx="6721763" cy="373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1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CAD4-A2F7-E9FB-D506-7576A75C8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950026"/>
            <a:ext cx="10961914" cy="868256"/>
          </a:xfrm>
        </p:spPr>
        <p:txBody>
          <a:bodyPr>
            <a:normAutofit fontScale="90000"/>
          </a:bodyPr>
          <a:lstStyle/>
          <a:p>
            <a:r>
              <a:rPr lang="sr-Cyrl-RS" dirty="0"/>
              <a:t>Утицај промене </a:t>
            </a:r>
            <a:r>
              <a:rPr lang="en-US" dirty="0"/>
              <a:t>learning_rate </a:t>
            </a:r>
            <a:r>
              <a:rPr lang="sr-Cyrl-RS" dirty="0"/>
              <a:t>на функцију грешке</a:t>
            </a:r>
            <a:r>
              <a:rPr lang="en-US" dirty="0"/>
              <a:t> </a:t>
            </a:r>
            <a:r>
              <a:rPr lang="sr-Cyrl-RS" dirty="0"/>
              <a:t>код модела </a:t>
            </a:r>
            <a:r>
              <a:rPr lang="en-US" dirty="0"/>
              <a:t>v2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156F0-8337-14A3-E182-BFC938BDC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3802" y="2092817"/>
            <a:ext cx="6812925" cy="381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798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D960-833F-1F53-C38D-D23F478D3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7F89-6794-E11A-D0AB-85138455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dirty="0"/>
              <a:t>Карактеристичне грешке модела </a:t>
            </a:r>
            <a:r>
              <a:rPr lang="en-US" dirty="0"/>
              <a:t>whisper-large-v2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50494-5B08-7021-6905-F38FAFCF9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099" y="1825625"/>
            <a:ext cx="4942270" cy="4351338"/>
          </a:xfrm>
        </p:spPr>
        <p:txBody>
          <a:bodyPr/>
          <a:lstStyle/>
          <a:p>
            <a:endParaRPr lang="sr-Cyrl-RS" dirty="0"/>
          </a:p>
          <a:p>
            <a:endParaRPr lang="sr-Cyrl-RS" dirty="0"/>
          </a:p>
          <a:p>
            <a:r>
              <a:rPr lang="sr-Cyrl-RS" dirty="0"/>
              <a:t>Акустичне халуцинације</a:t>
            </a:r>
          </a:p>
          <a:p>
            <a:r>
              <a:rPr lang="sr-Cyrl-RS" dirty="0"/>
              <a:t>Ограничење лексичког фонда</a:t>
            </a:r>
            <a:endParaRPr lang="x-non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2A062D-80C8-5163-CC0A-3AC9EE1608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775101" y="2035027"/>
            <a:ext cx="5578699" cy="2923340"/>
          </a:xfrm>
        </p:spPr>
      </p:pic>
    </p:spTree>
    <p:extLst>
      <p:ext uri="{BB962C8B-B14F-4D97-AF65-F5344CB8AC3E}">
        <p14:creationId xmlns:p14="http://schemas.microsoft.com/office/powerpoint/2010/main" val="2035926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E2FD7-A569-CECF-79F0-29515B5BA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5" y="950026"/>
            <a:ext cx="11044553" cy="1020442"/>
          </a:xfrm>
        </p:spPr>
        <p:txBody>
          <a:bodyPr>
            <a:normAutofit fontScale="90000"/>
          </a:bodyPr>
          <a:lstStyle/>
          <a:p>
            <a:r>
              <a:rPr lang="sr-Cyrl-RS" dirty="0"/>
              <a:t>Резултати евалуације модела без претходног тренирања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B83DA-D3CA-BE1E-8ED3-477195679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725" y="2803547"/>
            <a:ext cx="8183438" cy="213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265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18BA-0ECF-ADBB-ED2E-CB1F57E9C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Резултати евалуације модела </a:t>
            </a:r>
            <a:r>
              <a:rPr lang="en-US" dirty="0"/>
              <a:t>v2 </a:t>
            </a:r>
            <a:r>
              <a:rPr lang="sr-Cyrl-RS" dirty="0"/>
              <a:t>на тест скупу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29D266-00BB-4764-A053-13800A53E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483" y="2724336"/>
            <a:ext cx="10502317" cy="177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56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8140-BFC9-3408-40F8-D5AD4E5E7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Резултати евалуације модела </a:t>
            </a:r>
            <a:r>
              <a:rPr lang="en-US" dirty="0"/>
              <a:t>v3 </a:t>
            </a:r>
            <a:r>
              <a:rPr lang="sr-Cyrl-RS" dirty="0"/>
              <a:t>на тест скупу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C0E2A-AF3A-C68E-666E-BA83A34A93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8643" y="2677086"/>
            <a:ext cx="10465158" cy="1812920"/>
          </a:xfrm>
        </p:spPr>
      </p:pic>
    </p:spTree>
    <p:extLst>
      <p:ext uri="{BB962C8B-B14F-4D97-AF65-F5344CB8AC3E}">
        <p14:creationId xmlns:p14="http://schemas.microsoft.com/office/powerpoint/2010/main" val="24565887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9776-2441-7A6E-864E-3B7DDCB6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dirty="0"/>
              <a:t>Најбољи резултати евалуације модела </a:t>
            </a:r>
            <a:r>
              <a:rPr lang="en-US" dirty="0"/>
              <a:t>v2 </a:t>
            </a:r>
            <a:r>
              <a:rPr lang="sr-Cyrl-RS" dirty="0"/>
              <a:t>и </a:t>
            </a:r>
            <a:r>
              <a:rPr lang="en-US" dirty="0"/>
              <a:t>v3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F5A0BF-70F8-54FC-7B8B-0482187F94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4667" y="2578737"/>
            <a:ext cx="7942666" cy="2073012"/>
          </a:xfrm>
        </p:spPr>
      </p:pic>
    </p:spTree>
    <p:extLst>
      <p:ext uri="{BB962C8B-B14F-4D97-AF65-F5344CB8AC3E}">
        <p14:creationId xmlns:p14="http://schemas.microsoft.com/office/powerpoint/2010/main" val="3401050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36942-9426-A28E-1A44-D475B434B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49F4-F436-B488-2AB9-3A32D7B5E8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/>
              <a:t>Хвала на пажњи!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413672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1774</TotalTime>
  <Words>485</Words>
  <Application>Microsoft Office PowerPoint</Application>
  <PresentationFormat>Widescreen</PresentationFormat>
  <Paragraphs>79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Аутоматска транскрипција говора за српски језик</vt:lpstr>
      <vt:lpstr>Увод</vt:lpstr>
      <vt:lpstr>Примене</vt:lpstr>
      <vt:lpstr>Предности</vt:lpstr>
      <vt:lpstr>Изазови</vt:lpstr>
      <vt:lpstr>OpenAI Whisper</vt:lpstr>
      <vt:lpstr>OpenAI Whisper </vt:lpstr>
      <vt:lpstr>Коришћени скупови података</vt:lpstr>
      <vt:lpstr>Технике тренинга</vt:lpstr>
      <vt:lpstr>Технике тренинга и евалуације</vt:lpstr>
      <vt:lpstr>Хиперпараметри тренинга</vt:lpstr>
      <vt:lpstr>Варирање вредности хиперпараметара код модела v2</vt:lpstr>
      <vt:lpstr>Варирање вредности хиперпараметара код модела v3</vt:lpstr>
      <vt:lpstr>Евалуација модела</vt:lpstr>
      <vt:lpstr>Утицај промене weight_decay на функцију грешке код модела v2</vt:lpstr>
      <vt:lpstr>Утицај промене learning_rate на функцију грешке код модела v2</vt:lpstr>
      <vt:lpstr>Карактеристичне грешке модела whisper-large-v2</vt:lpstr>
      <vt:lpstr>Резултати евалуације модела без претходног тренирања</vt:lpstr>
      <vt:lpstr>Резултати евалуације модела v2 на тест скупу</vt:lpstr>
      <vt:lpstr>Резултати евалуације модела v3 на тест скупу</vt:lpstr>
      <vt:lpstr>Најбољи резултати евалуације модела v2 и v3</vt:lpstr>
      <vt:lpstr>Хвала на пажњи!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Dragana Ilic</dc:creator>
  <cp:lastModifiedBy>Stefan Jevtic</cp:lastModifiedBy>
  <cp:revision>16</cp:revision>
  <dcterms:created xsi:type="dcterms:W3CDTF">2020-06-23T11:51:33Z</dcterms:created>
  <dcterms:modified xsi:type="dcterms:W3CDTF">2026-09-19T19:15:35Z</dcterms:modified>
</cp:coreProperties>
</file>